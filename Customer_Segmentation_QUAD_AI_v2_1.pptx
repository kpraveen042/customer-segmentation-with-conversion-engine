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346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3460"/>
                </a:solidFill>
                <a:latin typeface="Arial"/>
              </a:rPr>
              <a:t>Return Rate by Discount Bracket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34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  <c:pt idx="3">
                  <c:v>30–40%</c:v>
                </c:pt>
                <c:pt idx="4">
                  <c:v>&gt;40%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11.6</c:v>
                </c:pt>
                <c:pt idx="1">
                  <c:v>11.7</c:v>
                </c:pt>
                <c:pt idx="2">
                  <c:v>11.7</c:v>
                </c:pt>
                <c:pt idx="3">
                  <c:v>11.7</c:v>
                </c:pt>
                <c:pt idx="4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3F-4554-B8E2-F21073E5A9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346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3460"/>
                </a:solidFill>
                <a:latin typeface="Arial"/>
              </a:rPr>
              <a:t>Avg Original Price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Original Price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4557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</c:v>
                </c:pt>
                <c:pt idx="2">
                  <c:v>Sports</c:v>
                </c:pt>
                <c:pt idx="3">
                  <c:v>Clothing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40000</c:v>
                </c:pt>
                <c:pt idx="1">
                  <c:v>12000</c:v>
                </c:pt>
                <c:pt idx="2">
                  <c:v>9000</c:v>
                </c:pt>
                <c:pt idx="3">
                  <c:v>3000</c:v>
                </c:pt>
                <c:pt idx="4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B-4702-AF40-B585EBA8C2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29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94560">
              <a:alpha val="35000"/>
            </a:srgbClr>
          </a:solidFill>
          <a:ln w="12700">
            <a:solidFill>
              <a:srgbClr val="E94560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594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18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SITAMARHI INSTITUTE OF TECHNOLOGY, SITAMARHI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" y="4114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 &amp; ML)  |  Batch 2022–26</a:t>
            </a:r>
            <a:endParaRPr lang="en-US" sz="900" b="1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457200" y="15727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CONVERSION ENGINE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57200" y="2194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E-Commerce Intelligence Platform  |  Powered by Machine Learning</a:t>
            </a:r>
            <a:endParaRPr lang="en-US" sz="1150" b="1" dirty="0"/>
          </a:p>
        </p:txBody>
      </p:sp>
      <p:sp>
        <p:nvSpPr>
          <p:cNvPr id="12" name="Shape 8"/>
          <p:cNvSpPr/>
          <p:nvPr/>
        </p:nvSpPr>
        <p:spPr>
          <a:xfrm>
            <a:off x="457200" y="2633472"/>
            <a:ext cx="5943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34930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 QUAD.AI   |   Batch 2022–26</a:t>
            </a:r>
            <a:endParaRPr lang="en-US" sz="1000" b="1" dirty="0"/>
          </a:p>
        </p:txBody>
      </p:sp>
      <p:sp>
        <p:nvSpPr>
          <p:cNvPr id="14" name="Text 10"/>
          <p:cNvSpPr/>
          <p:nvPr/>
        </p:nvSpPr>
        <p:spPr>
          <a:xfrm>
            <a:off x="457200" y="37673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Abhinaw Bhardwaj  •  Praveen Kumar  •  Nikhil Kumar Shahi  •  Vinayak Kumar Tiwary</a:t>
            </a:r>
            <a:endParaRPr lang="en-US" sz="950" b="1" dirty="0"/>
          </a:p>
        </p:txBody>
      </p:sp>
      <p:sp>
        <p:nvSpPr>
          <p:cNvPr id="15" name="Text 11"/>
          <p:cNvSpPr/>
          <p:nvPr/>
        </p:nvSpPr>
        <p:spPr>
          <a:xfrm>
            <a:off x="457200" y="40233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Pratiksha Nandeshwar</a:t>
            </a:r>
            <a:endParaRPr lang="en-US" sz="95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316736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1412748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24358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show the same products to all users — ignoring individual preferences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00600" y="1078992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37760" y="1316736"/>
            <a:ext cx="548640" cy="5486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772" y="1412748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24358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applied uniformly, causing profit loss on low-sensitivity customers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65760" y="2798064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02920" y="3035808"/>
            <a:ext cx="548640" cy="548640"/>
          </a:xfrm>
          <a:prstGeom prst="ellipse">
            <a:avLst/>
          </a:prstGeom>
          <a:solidFill>
            <a:srgbClr val="0AB4CC"/>
          </a:solidFill>
          <a:ln w="12700">
            <a:solidFill>
              <a:srgbClr val="0AB4CC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3131820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2962656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identify who needs a deeper discount to convert vs. who will buy anyway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00600" y="2798064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37760" y="3035808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772" y="3131820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23560" y="2962656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lack actionable customer segmentation linked directly to pricing strategy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"One size fits all" pricing is killing profit margins.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649224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24128"/>
            <a:ext cx="54864" cy="6492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15568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5568" y="1344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product recommendations using collaborative filtering (SVD)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792224"/>
            <a:ext cx="8229600" cy="649224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792224"/>
            <a:ext cx="54864" cy="6492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865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15568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Sensitivity Clustering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1122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price sensitivity using K-Means clustering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560320"/>
            <a:ext cx="8229600" cy="649224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560320"/>
            <a:ext cx="54864" cy="6492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15568" y="2615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Discounts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2880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intelligent discounts based on each user's price cluster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328416"/>
            <a:ext cx="8229600" cy="649224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328416"/>
            <a:ext cx="54864" cy="6492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115568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15568" y="36484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Streamlit dashboard for both shoppers and sellers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096512"/>
            <a:ext cx="8229600" cy="649224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4096512"/>
            <a:ext cx="54864" cy="6492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115568" y="4151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Real-Scale Dataset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15568" y="4416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row Amazon dataset — training production-level models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— Amazon E-Commerce (1M Rows)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35608"/>
          <a:ext cx="822960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Unique customer identifier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Unique product identifier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Product classification (Electronics, Clothing, Beauty, Home, Sports)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Product brand name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Original listed price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discount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Discount applied (%)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final_price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Price after discount applied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Customer rating (1–5 stars)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34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is_returned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</a:rPr>
                        <a:t>Boolean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3460"/>
                          </a:solidFill>
                        </a:rPr>
                        <a:t>Whether item was returned by customer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4480560"/>
            <a:ext cx="1874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457200" y="4754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560320" y="4480560"/>
            <a:ext cx="1874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56032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2560320" y="4754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663440" y="4480560"/>
            <a:ext cx="1874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6344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~45K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63440" y="4754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766560" y="4480560"/>
            <a:ext cx="1874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6656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766560" y="4754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chemeClr val="accent2">
                    <a:lumMod val="75000"/>
                  </a:schemeClr>
                </a:solidFill>
              </a:rPr>
              <a:t>Source: Synthetic Amazon E-Commerce Dataset</a:t>
            </a:r>
            <a:endParaRPr lang="en-US" sz="85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103120" cy="621792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51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(1M Rows)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0" y="1051560"/>
            <a:ext cx="25603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10515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Training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051560"/>
            <a:ext cx="283464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0515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77440" y="1362456"/>
            <a:ext cx="34747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124358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4560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1362456"/>
            <a:ext cx="34747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124358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456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94560" y="1901952"/>
            <a:ext cx="329184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0" y="19019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product_catalog.pkl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80360" y="1673352"/>
            <a:ext cx="0" cy="228600"/>
          </a:xfrm>
          <a:prstGeom prst="line">
            <a:avLst/>
          </a:prstGeom>
          <a:noFill/>
          <a:ln w="12700">
            <a:solidFill>
              <a:srgbClr val="2A408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2194560" y="2679192"/>
            <a:ext cx="329184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26791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user_sensitivity.pkl (KMeans)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880360" y="1673352"/>
            <a:ext cx="0" cy="1005840"/>
          </a:xfrm>
          <a:prstGeom prst="line">
            <a:avLst/>
          </a:prstGeom>
          <a:noFill/>
          <a:ln w="12700">
            <a:solidFill>
              <a:srgbClr val="2A4080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2194560" y="3456432"/>
            <a:ext cx="329184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0" y="34564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rec_model.pkl (TruncatedSVD)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80360" y="1673352"/>
            <a:ext cx="0" cy="1783080"/>
          </a:xfrm>
          <a:prstGeom prst="line">
            <a:avLst/>
          </a:prstGeom>
          <a:noFill/>
          <a:ln w="12700">
            <a:solidFill>
              <a:srgbClr val="2A4080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852160" y="1901952"/>
            <a:ext cx="2926080" cy="658368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1901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View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+ Dynamic Discounts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852160" y="2770632"/>
            <a:ext cx="2926080" cy="658368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0" y="27706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Return Rate, Category Analytics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4645152"/>
            <a:ext cx="1554480" cy="27432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84832" y="4645152"/>
            <a:ext cx="1554480" cy="27432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84832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803904" y="4645152"/>
            <a:ext cx="1554480" cy="27432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03904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22976" y="4645152"/>
            <a:ext cx="1554480" cy="27432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22976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scipy.sparse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242048" y="4645152"/>
            <a:ext cx="1554480" cy="27432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1 — Collaborative Filtering (SVD)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111556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User × Product Matrix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3716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interaction matrix from customer ratings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0" cy="512064"/>
          </a:xfrm>
          <a:prstGeom prst="line">
            <a:avLst/>
          </a:prstGeom>
          <a:noFill/>
          <a:ln w="12700">
            <a:solidFill>
              <a:srgbClr val="E9456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65760" y="2084832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20116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Truncated SVD (20 Factors)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" y="22677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to extract latent features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0" cy="512064"/>
          </a:xfrm>
          <a:prstGeom prst="line">
            <a:avLst/>
          </a:prstGeom>
          <a:noFill/>
          <a:ln w="12700">
            <a:solidFill>
              <a:srgbClr val="E9456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65760" y="2980944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290779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Dot Product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" y="31638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vector × all item vectors → relevance scores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346704"/>
            <a:ext cx="0" cy="512064"/>
          </a:xfrm>
          <a:prstGeom prst="line">
            <a:avLst/>
          </a:prstGeom>
          <a:noFill/>
          <a:ln w="12700">
            <a:solidFill>
              <a:srgbClr val="E94560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65760" y="3877056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" y="38039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Top-N Products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" y="40599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highest scoring products per user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03520" y="1024128"/>
            <a:ext cx="3566160" cy="3794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0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40680" y="1572768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16093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Components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32120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40680" y="2322576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Recommendations/User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532120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 products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40680" y="3072384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32120" y="3108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3212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fallback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40680" y="3822192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32120" y="3858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Format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32120" y="4096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CSR Sparse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2 — Customer Segmentation (K-Means)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20040" y="1024128"/>
            <a:ext cx="2743200" cy="1719072"/>
          </a:xfrm>
          <a:prstGeom prst="rect">
            <a:avLst/>
          </a:prstGeom>
          <a:solidFill>
            <a:srgbClr val="162B55"/>
          </a:solidFill>
          <a:ln w="12700">
            <a:solidFill>
              <a:srgbClr val="0AB4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24128"/>
            <a:ext cx="2743200" cy="54864"/>
          </a:xfrm>
          <a:prstGeom prst="rect">
            <a:avLst/>
          </a:prstGeom>
          <a:solidFill>
            <a:srgbClr val="0AB4CC"/>
          </a:solidFill>
          <a:ln w="12700">
            <a:solidFill>
              <a:srgbClr val="0AB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Sensitivity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8470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Base Discount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024128"/>
            <a:ext cx="2743200" cy="1719072"/>
          </a:xfrm>
          <a:prstGeom prst="rect">
            <a:avLst/>
          </a:prstGeom>
          <a:solidFill>
            <a:srgbClr val="162B5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24128"/>
            <a:ext cx="27432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 Sensitivity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18470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Base Discount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024128"/>
            <a:ext cx="2743200" cy="1719072"/>
          </a:xfrm>
          <a:prstGeom prst="rect">
            <a:avLst/>
          </a:prstGeom>
          <a:solidFill>
            <a:srgbClr val="162B5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024128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Sensitivity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18470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of Base Discount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Base Discounts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73552"/>
          <a:ext cx="5029200" cy="15468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 Discount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ABBDD"/>
                          </a:solidFill>
                        </a:rPr>
                        <a:t>Electronics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ABBDD"/>
                          </a:solidFill>
                        </a:rPr>
                        <a:t>Clothing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ABBDD"/>
                          </a:solidFill>
                        </a:rPr>
                        <a:t>Beauty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ABBDD"/>
                          </a:solidFill>
                        </a:rPr>
                        <a:t>Home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ABBDD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486400" y="2926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532120" y="333756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321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870448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avg discount accepted per user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532120" y="3758184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3212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870448" y="3758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(K=3) on discount data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532120" y="4178808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3212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70448" y="4178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Low / Medium / High sensitivity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532120" y="459943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532120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870448" y="4599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dynamic discount multiplier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Pipeline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7899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78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107899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Dataset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 CSV loaded with Pandas into memory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07899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7899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9272" y="1078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21608" y="107899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Product Catalog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3756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saved as product_catalog.pkl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07899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07899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1078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01968" y="107899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KMeans Clustering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1792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per user → K-Means → user_sensitivity.pkl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86207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286207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28620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1248" y="286207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Sparse Matrix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ratings in CSR sparse format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286207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286207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19272" y="28620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721608" y="286207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TruncatedSVD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33756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20-component factorization → rec_model.pkl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26480" y="286207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26480" y="2862072"/>
            <a:ext cx="2651760" cy="3108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28620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601968" y="286207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Transactions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21792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sample → transactions_sample.parquet for fast queries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5760" y="47731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460"/>
                </a:solidFill>
              </a:rPr>
              <a:t>Tech Stack: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371600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7160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679192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679192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986784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86784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294376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94376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scipy.sparse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01968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909560" y="4754880"/>
            <a:ext cx="118872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095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pyarrow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1 — Shopper Experience  |  Live Dashboard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20040" y="868680"/>
            <a:ext cx="5120640" cy="329184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048" y="914400"/>
            <a:ext cx="4992624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868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23560" y="1234440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87568" y="137160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87568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35040" y="1271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User ID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35040" y="1527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dropdown of registered customers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23560" y="1984248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7568" y="2121408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87568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35040" y="2020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Recommendations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35040" y="2276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KMeans inference runs in &lt; 1 second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23560" y="2734056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87568" y="2871216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87568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035040" y="2770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4 Product Cards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035040" y="3026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· Category · Rating · Discounted Price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623560" y="3483864"/>
            <a:ext cx="3291840" cy="5943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87568" y="3621024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8756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035040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% OFF Badge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035040" y="3776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ML-calculated from user's price sensitivity cluster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20040" y="4242816"/>
            <a:ext cx="8503920" cy="27432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0040" y="42428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SVD picks the product  →  KMeans calculates the discount based on user's price sensitivity cluster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Shopper View — Personalized Product Cards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1005840"/>
            <a:ext cx="8503920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</a:rPr>
              <a:t>Real dashboard output: 4 product cards with personalized discounts per user segment  |  Platform: Streamlit  |  localhost:8501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2 — Seller Analytics Dashboard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024128"/>
            <a:ext cx="1920240" cy="1170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" y="1124712"/>
            <a:ext cx="493776" cy="493776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23" y="1211123"/>
            <a:ext cx="320954" cy="3209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0789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$992M+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Revenue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468880" y="1024128"/>
            <a:ext cx="1920240" cy="1170432"/>
          </a:xfrm>
          <a:prstGeom prst="rect">
            <a:avLst/>
          </a:prstGeom>
          <a:solidFill>
            <a:srgbClr val="0AB4CC"/>
          </a:solidFill>
          <a:ln w="12700">
            <a:solidFill>
              <a:srgbClr val="0AB4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42032" y="1124712"/>
            <a:ext cx="493776" cy="493776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443" y="1211123"/>
            <a:ext cx="320954" cy="3209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90672" y="10789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28.9%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256032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Platform Discount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572000" y="1024128"/>
            <a:ext cx="1920240" cy="1170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45152" y="1124712"/>
            <a:ext cx="493776" cy="493776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563" y="1211123"/>
            <a:ext cx="320954" cy="3209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10789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11.7%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466344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Return Rate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675120" y="1024128"/>
            <a:ext cx="1920240" cy="1170432"/>
          </a:xfrm>
          <a:prstGeom prst="rect">
            <a:avLst/>
          </a:prstGeom>
          <a:solidFill>
            <a:srgbClr val="1A3A2E"/>
          </a:solidFill>
          <a:ln w="12700">
            <a:solidFill>
              <a:srgbClr val="1A3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48272" y="1124712"/>
            <a:ext cx="493776" cy="493776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683" y="1211123"/>
            <a:ext cx="320954" cy="3209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96912" y="10789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89,999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76656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 Count</a:t>
            </a:r>
            <a:endParaRPr lang="en-US" sz="8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2331720"/>
          <a:ext cx="429768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1"/>
          <p:cNvGraphicFramePr/>
          <p:nvPr/>
        </p:nvGraphicFramePr>
        <p:xfrm>
          <a:off x="4754880" y="2331720"/>
          <a:ext cx="411480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8" name="Text 1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9BB"/>
                </a:solidFill>
              </a:rPr>
              <a:t>Dynamic pricing ensures high-value items are not undersold, while aggressive discounts target only price-sensitive segments.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Seller Dashboard — Live Screenshots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20040" y="987552"/>
            <a:ext cx="4206240" cy="26517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024128"/>
            <a:ext cx="4114800" cy="2578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675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</a:rPr>
              <a:t>Seller Dashboard — KPI Metrics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63440" y="987552"/>
            <a:ext cx="4206240" cy="265176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0" y="1024128"/>
            <a:ext cx="4114800" cy="2578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3675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</a:rPr>
              <a:t>Discounts vs Return Risk + Category Price Charts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0040" y="4041648"/>
            <a:ext cx="2011680" cy="685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$992M+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2004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Revenue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532888" y="4041648"/>
            <a:ext cx="2011680" cy="685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532888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28.9%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532888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Avg Discount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45736" y="4041648"/>
            <a:ext cx="2011680" cy="685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45736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11.7%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745736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Return Rate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58584" y="4041648"/>
            <a:ext cx="2011680" cy="685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58584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89,999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58584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Products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Business Impact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1920240" cy="1078992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05840"/>
            <a:ext cx="19202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1005840"/>
            <a:ext cx="1920240" cy="1078992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005840"/>
            <a:ext cx="19202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688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Speed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1920240" cy="1078992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005840"/>
            <a:ext cx="19202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177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1005840"/>
            <a:ext cx="1920240" cy="1078992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1005840"/>
            <a:ext cx="19202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665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2267712"/>
            <a:ext cx="4206240" cy="109728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54203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2638044"/>
            <a:ext cx="356616" cy="3566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430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Conversion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4300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product matched to the right user at the right time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00600" y="2267712"/>
            <a:ext cx="4206240" cy="109728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937760" y="254203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772" y="2638044"/>
            <a:ext cx="356616" cy="35661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62356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Margin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62356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discount targets only price-sensitive customers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20040" y="3593592"/>
            <a:ext cx="4206240" cy="109728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386791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" y="3963924"/>
            <a:ext cx="356616" cy="35661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4300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4300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monitor return risk and revenue health live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800600" y="3593592"/>
            <a:ext cx="4206240" cy="109728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937760" y="3867912"/>
            <a:ext cx="548640" cy="5486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772" y="3963924"/>
            <a:ext cx="356616" cy="35661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62356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Automated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562356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pricing decisions — end-to-end ML pipeline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"/>
            <a:ext cx="54864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54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0" y="310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78992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1338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Data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integration for live transaction feeds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10789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078992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1338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Recommender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14081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SVD with Neural Collaborative Filtering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029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029968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23591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with Docker containerization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00600" y="2029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2029968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Mobile-Friendly UI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23591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version of the shopper experience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298094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2980944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Authentication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33101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seller dashboard access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00600" y="298094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2980944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37760" y="33101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push alerts for personalized deal alerts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377440" y="39319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377440" y="3931920"/>
            <a:ext cx="45720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14600" y="3986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 Framework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514600" y="42611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optimize discount strategy effectiveness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64008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91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SITAMARHI INSTITUTE OF TECHNOLOGY, SITAMARHI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24128" y="4023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(AI &amp; ML)  |  Batch 2022–26</a:t>
            </a:r>
            <a:endParaRPr lang="en-US" sz="950" b="1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850392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 — QUAD.AI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" y="1536192"/>
            <a:ext cx="2011680" cy="2971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536192"/>
            <a:ext cx="20116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Abhinaw Bhardwaj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1280160" cy="27432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8899BB"/>
                </a:solidFill>
              </a:rPr>
              <a:t>Reg: 23157127903</a:t>
            </a:r>
            <a:endParaRPr lang="en-US" sz="1000" b="1" dirty="0"/>
          </a:p>
        </p:txBody>
      </p:sp>
      <p:sp>
        <p:nvSpPr>
          <p:cNvPr id="15" name="Text 11"/>
          <p:cNvSpPr/>
          <p:nvPr/>
        </p:nvSpPr>
        <p:spPr>
          <a:xfrm>
            <a:off x="36576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2450592" y="1536192"/>
            <a:ext cx="2011680" cy="2971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50592" y="1536192"/>
            <a:ext cx="20116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907792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542032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Praveen Kumar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816352" y="3383280"/>
            <a:ext cx="1280160" cy="27432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816352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8899BB"/>
                </a:solidFill>
              </a:rPr>
              <a:t>Reg: 23157127902</a:t>
            </a:r>
            <a:endParaRPr lang="en-US" sz="1000" b="1" dirty="0"/>
          </a:p>
        </p:txBody>
      </p:sp>
      <p:sp>
        <p:nvSpPr>
          <p:cNvPr id="24" name="Text 19"/>
          <p:cNvSpPr/>
          <p:nvPr/>
        </p:nvSpPr>
        <p:spPr>
          <a:xfrm>
            <a:off x="2542032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4626864" y="1536192"/>
            <a:ext cx="2011680" cy="2971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26864" y="1536192"/>
            <a:ext cx="20116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84064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18304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Nikhil Kumar Shahi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992624" y="3383280"/>
            <a:ext cx="1280160" cy="27432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992624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8899BB"/>
                </a:solidFill>
              </a:rPr>
              <a:t>Reg: 22157127010</a:t>
            </a:r>
            <a:endParaRPr lang="en-US" sz="1000" b="1" dirty="0"/>
          </a:p>
        </p:txBody>
      </p:sp>
      <p:sp>
        <p:nvSpPr>
          <p:cNvPr id="33" name="Text 27"/>
          <p:cNvSpPr/>
          <p:nvPr/>
        </p:nvSpPr>
        <p:spPr>
          <a:xfrm>
            <a:off x="4718304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6803136" y="1536192"/>
            <a:ext cx="2011680" cy="2971800"/>
          </a:xfrm>
          <a:prstGeom prst="rect">
            <a:avLst/>
          </a:prstGeom>
          <a:solidFill>
            <a:srgbClr val="162B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03136" y="1536192"/>
            <a:ext cx="20116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260336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894576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Vinayak Kumar Tiwary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168896" y="3383280"/>
            <a:ext cx="1280160" cy="27432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168896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8899BB"/>
                </a:solidFill>
              </a:rPr>
              <a:t>Reg: 22157127019</a:t>
            </a:r>
            <a:endParaRPr lang="en-US" sz="1000" b="1" dirty="0"/>
          </a:p>
        </p:txBody>
      </p:sp>
      <p:sp>
        <p:nvSpPr>
          <p:cNvPr id="42" name="Text 35"/>
          <p:cNvSpPr/>
          <p:nvPr/>
        </p:nvSpPr>
        <p:spPr>
          <a:xfrm>
            <a:off x="6894576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2743200" y="4617720"/>
            <a:ext cx="3657600" cy="384048"/>
          </a:xfrm>
          <a:prstGeom prst="rect">
            <a:avLst/>
          </a:prstGeom>
          <a:solidFill>
            <a:srgbClr val="162B55"/>
          </a:solidFill>
          <a:ln w="12700">
            <a:solidFill>
              <a:srgbClr val="0AB4C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2743200" y="4617720"/>
            <a:ext cx="3657600" cy="36576"/>
          </a:xfrm>
          <a:prstGeom prst="rect">
            <a:avLst/>
          </a:prstGeom>
          <a:solidFill>
            <a:srgbClr val="0AB4CC"/>
          </a:solidFill>
          <a:ln w="12700">
            <a:solidFill>
              <a:srgbClr val="0AB4C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743200" y="46542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Guide: Prof. Pratiksha Nandeshwar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AB78B2F-E79A-C662-0C36-373EDD9B78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07" t="1822" r="4461" b="21660"/>
          <a:stretch>
            <a:fillRect/>
          </a:stretch>
        </p:blipFill>
        <p:spPr>
          <a:xfrm>
            <a:off x="647178" y="1633396"/>
            <a:ext cx="1177050" cy="1393267"/>
          </a:xfrm>
          <a:prstGeom prst="flowChartConnector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7BF665A-5848-C8B8-FF7E-9EC398C46F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725" b="16725"/>
          <a:stretch/>
        </p:blipFill>
        <p:spPr>
          <a:xfrm>
            <a:off x="2828022" y="1616798"/>
            <a:ext cx="1177050" cy="1393267"/>
          </a:xfrm>
          <a:prstGeom prst="flowChartConnector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3F27CA6-C786-F68D-B35E-EE7EA8928D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4380" t="6187" r="4380" b="30105"/>
          <a:stretch>
            <a:fillRect/>
          </a:stretch>
        </p:blipFill>
        <p:spPr>
          <a:xfrm>
            <a:off x="5004294" y="1633395"/>
            <a:ext cx="1177050" cy="1393267"/>
          </a:xfrm>
          <a:prstGeom prst="flowChartConnector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ABACF4E-63E3-82B4-2603-7CBB19620B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549" t="2043" r="1549" b="33317"/>
          <a:stretch>
            <a:fillRect/>
          </a:stretch>
        </p:blipFill>
        <p:spPr>
          <a:xfrm>
            <a:off x="7180566" y="1603082"/>
            <a:ext cx="1177050" cy="1393267"/>
          </a:xfrm>
          <a:prstGeom prst="flowChartConnector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94560">
              <a:alpha val="38000"/>
            </a:srgbClr>
          </a:solidFill>
          <a:ln w="12700">
            <a:solidFill>
              <a:srgbClr val="E94560">
                <a:alpha val="3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53035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73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SIT, SITAMARHI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43600" y="329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Sitamarhi Institute of Technology</a:t>
            </a:r>
            <a:endParaRPr lang="en-US" sz="1000" b="1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QUAD.AI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ABBDD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Customer Segmentation with Conversion Engine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347472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21284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3649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SITAMARHI INSTITUTE OF TECHNOLOGY, SITAMARHI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703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Abhinaw Bhardwaj  |  Praveen Kumar  |  Nikhil Kumar Shahi  |  Vinayak Kumar Tiwary</a:t>
            </a:r>
            <a:endParaRPr lang="en-US" sz="900" b="1" dirty="0"/>
          </a:p>
        </p:txBody>
      </p:sp>
      <p:sp>
        <p:nvSpPr>
          <p:cNvPr id="14" name="Text 11"/>
          <p:cNvSpPr/>
          <p:nvPr/>
        </p:nvSpPr>
        <p:spPr>
          <a:xfrm>
            <a:off x="457200" y="3950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Pratiksha Nandeshwar  |  CSE (AI &amp; ML)  |  Batch 2022–26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1130</Words>
  <Application>Microsoft Office PowerPoint</Application>
  <PresentationFormat>On-screen Show (16:9)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Bookman Old Style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with Conversion Engine — QUAD.AI</dc:title>
  <dc:subject>PptxGenJS Presentation</dc:subject>
  <dc:creator>PptxGenJS</dc:creator>
  <cp:lastModifiedBy>PRAVEEN KUMAR</cp:lastModifiedBy>
  <cp:revision>4</cp:revision>
  <dcterms:created xsi:type="dcterms:W3CDTF">2026-04-18T19:07:58Z</dcterms:created>
  <dcterms:modified xsi:type="dcterms:W3CDTF">2026-04-19T04:43:52Z</dcterms:modified>
</cp:coreProperties>
</file>